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224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pos="4104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hmuXWA08DaxH658KF9sadERmbc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56" y="72"/>
      </p:cViewPr>
      <p:guideLst>
        <p:guide orient="horz" pos="2160"/>
        <p:guide pos="1224"/>
        <p:guide orient="horz" pos="3888"/>
        <p:guide pos="41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2.4092139662167614E-2"/>
          <c:y val="3.6363280481586706E-2"/>
          <c:w val="0.95416666666666672"/>
          <c:h val="0.9312500000000000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1"/>
                </a:gs>
                <a:gs pos="75000">
                  <a:schemeClr val="accent1">
                    <a:lumMod val="60000"/>
                    <a:lumOff val="40000"/>
                  </a:schemeClr>
                </a:gs>
                <a:gs pos="51000">
                  <a:schemeClr val="accent1">
                    <a:alpha val="75000"/>
                  </a:schemeClr>
                </a:gs>
                <a:gs pos="100000">
                  <a:schemeClr val="accent1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2A4-40DC-425C-9DB9-046E9A4384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2A5-40DC-425C-9DB9-046E9A4384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flip="none" rotWithShape="1">
              <a:gsLst>
                <a:gs pos="0">
                  <a:schemeClr val="accent3"/>
                </a:gs>
                <a:gs pos="75000">
                  <a:schemeClr val="accent3">
                    <a:lumMod val="60000"/>
                    <a:lumOff val="40000"/>
                  </a:schemeClr>
                </a:gs>
                <a:gs pos="51000">
                  <a:schemeClr val="accent3">
                    <a:alpha val="75000"/>
                  </a:schemeClr>
                </a:gs>
                <a:gs pos="100000">
                  <a:schemeClr val="accent3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2A6-40DC-425C-9DB9-046E9A4384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26"/>
        <c:overlap val="-58"/>
        <c:axId val="303835688"/>
        <c:axId val="303837328"/>
      </c:barChart>
      <c:catAx>
        <c:axId val="3038356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03837328"/>
        <c:crosses val="autoZero"/>
        <c:auto val="1"/>
        <c:lblAlgn val="ctr"/>
        <c:lblOffset val="100"/>
        <c:noMultiLvlLbl val="0"/>
      </c:catAx>
      <c:valAx>
        <c:axId val="3038373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038356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" name="Google Shape;19;p6"/>
          <p:cNvCxnSpPr/>
          <p:nvPr/>
        </p:nvCxnSpPr>
        <p:spPr>
          <a:xfrm>
            <a:off x="475488" y="895393"/>
            <a:ext cx="8211312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" name="Google Shape;20;p6"/>
          <p:cNvCxnSpPr/>
          <p:nvPr/>
        </p:nvCxnSpPr>
        <p:spPr>
          <a:xfrm>
            <a:off x="475488" y="6143775"/>
            <a:ext cx="8211312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57200" y="535377"/>
            <a:ext cx="8229600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77748" y="535377"/>
            <a:ext cx="8229600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9"/>
          <p:cNvSpPr/>
          <p:nvPr/>
        </p:nvSpPr>
        <p:spPr>
          <a:xfrm>
            <a:off x="7398044" y="6337300"/>
            <a:ext cx="1288756" cy="25923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457200" y="535377"/>
            <a:ext cx="8229600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457200" y="535377"/>
            <a:ext cx="8229600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457200" y="535377"/>
            <a:ext cx="8229600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432262" y="1855694"/>
            <a:ext cx="8279476" cy="395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95846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59"/>
              <a:buFont typeface="Arial"/>
              <a:buChar char="•"/>
              <a:defRPr sz="105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84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9"/>
              <a:buFont typeface="Arial"/>
              <a:buChar char="•"/>
              <a:defRPr sz="105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584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9"/>
              <a:buFont typeface="Arial"/>
              <a:buChar char="•"/>
              <a:defRPr sz="105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84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9"/>
              <a:buFont typeface="Arial"/>
              <a:buChar char="•"/>
              <a:defRPr sz="105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584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59"/>
              <a:buFont typeface="Arial"/>
              <a:buChar char="•"/>
              <a:defRPr sz="1059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2"/>
          </p:nvPr>
        </p:nvSpPr>
        <p:spPr>
          <a:xfrm>
            <a:off x="432262" y="1169894"/>
            <a:ext cx="8279476" cy="32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882"/>
              </a:spcBef>
              <a:spcAft>
                <a:spcPts val="0"/>
              </a:spcAft>
              <a:buClr>
                <a:schemeClr val="dk2"/>
              </a:buClr>
              <a:buSzPts val="1324"/>
              <a:buFont typeface="Arial"/>
              <a:buNone/>
              <a:defRPr sz="1324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-2">
  <p:cSld name="DEFAULT-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685800" y="189436"/>
            <a:ext cx="6438900" cy="424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457200" y="535377"/>
            <a:ext cx="8229600" cy="278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4" name="Google Shape;14;p5"/>
          <p:cNvCxnSpPr/>
          <p:nvPr/>
        </p:nvCxnSpPr>
        <p:spPr>
          <a:xfrm>
            <a:off x="475488" y="895393"/>
            <a:ext cx="8211312" cy="0"/>
          </a:xfrm>
          <a:prstGeom prst="straightConnector1">
            <a:avLst/>
          </a:prstGeom>
          <a:noFill/>
          <a:ln w="571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  <p15:guide id="3" pos="288">
          <p15:clr>
            <a:srgbClr val="F26B43"/>
          </p15:clr>
        </p15:guide>
        <p15:guide id="4" pos="5472">
          <p15:clr>
            <a:srgbClr val="F26B43"/>
          </p15:clr>
        </p15:guide>
        <p15:guide id="5" orient="horz" pos="4032">
          <p15:clr>
            <a:srgbClr val="F26B43"/>
          </p15:clr>
        </p15:guide>
        <p15:guide id="6" orient="horz" pos="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457201" y="1209601"/>
            <a:ext cx="477598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>
              <a:buClr>
                <a:srgbClr val="0070C0"/>
              </a:buClr>
              <a:buSzPts val="3200"/>
            </a:pPr>
            <a:r>
              <a:rPr lang="en-US" sz="3200" b="0" i="0" u="none" strike="noStrike" cap="none" dirty="0">
                <a:solidFill>
                  <a:srgbClr val="0070C0"/>
                </a:solidFill>
                <a:latin typeface="+mj-lt"/>
                <a:ea typeface="Fira mono" panose="020B0509050000020004" pitchFamily="49" charset="0"/>
                <a:cs typeface="Times New Roman" panose="02020603050405020304" pitchFamily="18" charset="0"/>
                <a:sym typeface="Arial"/>
              </a:rPr>
              <a:t>Driving Sales Excellence: Key Insights and Strategic Recommendations</a:t>
            </a:r>
          </a:p>
        </p:txBody>
      </p:sp>
      <p:sp>
        <p:nvSpPr>
          <p:cNvPr id="97" name="Google Shape;97;p1"/>
          <p:cNvSpPr/>
          <p:nvPr/>
        </p:nvSpPr>
        <p:spPr>
          <a:xfrm>
            <a:off x="7398044" y="6337300"/>
            <a:ext cx="1288756" cy="2592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71072"/>
            <a:ext cx="1415143" cy="2872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CAE940-AD7D-4B03-8CB8-C487082BDC57}"/>
              </a:ext>
            </a:extLst>
          </p:cNvPr>
          <p:cNvSpPr txBox="1"/>
          <p:nvPr/>
        </p:nvSpPr>
        <p:spPr>
          <a:xfrm>
            <a:off x="457200" y="3019253"/>
            <a:ext cx="5001065" cy="2639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Fira sans" panose="020B0503050000020004" pitchFamily="34" charset="0"/>
                <a:ea typeface="Fira mono" panose="020B0509050000020004" pitchFamily="49" charset="0"/>
              </a:rPr>
              <a:t>This presentation provides a comprehensive analysis of our company's sales performance, identifying key insights and strategic recommendations to drive sustainable growth. By leveraging data-driven insights, we'll uncover opportunities and optimizations to enhance sales excellence across the organization.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CD0F7A6-2671-4C5F-9F24-2EF53DFF4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896607"/>
              </p:ext>
            </p:extLst>
          </p:nvPr>
        </p:nvGraphicFramePr>
        <p:xfrm>
          <a:off x="5556739" y="969937"/>
          <a:ext cx="4089010" cy="5108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>
            <a:spLocks noGrp="1"/>
          </p:cNvSpPr>
          <p:nvPr>
            <p:ph type="title"/>
          </p:nvPr>
        </p:nvSpPr>
        <p:spPr>
          <a:xfrm>
            <a:off x="629841" y="1512066"/>
            <a:ext cx="3942159" cy="87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IN" sz="3600" dirty="0"/>
              <a:t>Sales Performance Overview</a:t>
            </a:r>
            <a:br>
              <a:rPr lang="en-IN" dirty="0"/>
            </a:br>
            <a:endParaRPr dirty="0"/>
          </a:p>
        </p:txBody>
      </p:sp>
      <p:sp>
        <p:nvSpPr>
          <p:cNvPr id="104" name="Google Shape;104;p2"/>
          <p:cNvSpPr txBox="1">
            <a:spLocks noGrp="1"/>
          </p:cNvSpPr>
          <p:nvPr>
            <p:ph type="body" idx="1"/>
          </p:nvPr>
        </p:nvSpPr>
        <p:spPr>
          <a:xfrm>
            <a:off x="3854548" y="1835584"/>
            <a:ext cx="4832252" cy="4722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ct val="100000"/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+mj-lt"/>
              </a:rPr>
              <a:t>2017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dirty="0">
                <a:latin typeface="+mn-lt"/>
              </a:rPr>
              <a:t>Sales grew by 8% year-over-year, with strong performance across key accounts.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800" dirty="0"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+mj-lt"/>
              </a:rPr>
              <a:t>2018-2019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Steady growth, with a 5% increase in sales each year. Identified top-performing and underperforming accounts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+mj-lt"/>
              </a:rPr>
              <a:t>2020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Challenging year due to the pandemic, leading to a 3% decline in sales. Focused on retaining key accounts.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800" dirty="0">
              <a:solidFill>
                <a:schemeClr val="tx1"/>
              </a:solidFill>
              <a:latin typeface="+mj-l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+mj-lt"/>
              </a:rPr>
              <a:t>2021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Rebounded with a 12% year-over-year increase, indicating strong recovery and growth potential.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sz="1800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14E6F3-944B-40BC-9907-1B506C598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54" y="2383928"/>
            <a:ext cx="3390577" cy="2777572"/>
          </a:xfrm>
          <a:prstGeom prst="rect">
            <a:avLst/>
          </a:prstGeom>
        </p:spPr>
      </p:pic>
      <p:sp>
        <p:nvSpPr>
          <p:cNvPr id="106" name="Google Shape;106;p2"/>
          <p:cNvSpPr/>
          <p:nvPr/>
        </p:nvSpPr>
        <p:spPr>
          <a:xfrm>
            <a:off x="7398044" y="6337300"/>
            <a:ext cx="1288756" cy="2592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200" y="6271072"/>
            <a:ext cx="1415143" cy="287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7398044" y="6337300"/>
            <a:ext cx="1288756" cy="2592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71072"/>
            <a:ext cx="1415143" cy="2872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314C033-FCDC-4DCE-B6FD-C699EAD1F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9695"/>
            <a:ext cx="8229600" cy="51381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Product and Marketing Channel Performance</a:t>
            </a:r>
            <a:br>
              <a:rPr lang="en-US" dirty="0"/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4099D-6F8B-4F3F-A434-9E4BBF75CA4C}"/>
              </a:ext>
            </a:extLst>
          </p:cNvPr>
          <p:cNvSpPr txBox="1"/>
          <p:nvPr/>
        </p:nvSpPr>
        <p:spPr>
          <a:xfrm>
            <a:off x="457200" y="1594324"/>
            <a:ext cx="2609557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PRODUCT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DDBB28-C979-4FCE-BDF3-55A2C5E48528}"/>
              </a:ext>
            </a:extLst>
          </p:cNvPr>
          <p:cNvSpPr txBox="1"/>
          <p:nvPr/>
        </p:nvSpPr>
        <p:spPr>
          <a:xfrm>
            <a:off x="3569970" y="1594323"/>
            <a:ext cx="2356337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MARKETING</a:t>
            </a:r>
            <a:r>
              <a:rPr lang="en-IN" sz="1800" b="1" dirty="0"/>
              <a:t> </a:t>
            </a:r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CHANNELS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77821E-145E-4E5A-B0E8-7FDAF0566351}"/>
              </a:ext>
            </a:extLst>
          </p:cNvPr>
          <p:cNvSpPr txBox="1"/>
          <p:nvPr/>
        </p:nvSpPr>
        <p:spPr>
          <a:xfrm>
            <a:off x="6791765" y="1628285"/>
            <a:ext cx="1855679" cy="64633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6">
                    <a:lumMod val="75000"/>
                  </a:schemeClr>
                </a:solidFill>
              </a:rPr>
              <a:t>INSIGHTS                   </a:t>
            </a:r>
          </a:p>
          <a:p>
            <a:endParaRPr lang="en-IN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DCFB7F-5A6F-41DD-AA62-338515FA8BCA}"/>
              </a:ext>
            </a:extLst>
          </p:cNvPr>
          <p:cNvSpPr txBox="1"/>
          <p:nvPr/>
        </p:nvSpPr>
        <p:spPr>
          <a:xfrm>
            <a:off x="496556" y="2529380"/>
            <a:ext cx="2077832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Product 1 drove 45% of total sales, while Product 2 and 3 accounted for 30% and 25%, respectively. Identifying opportunities to optimize product mix and focus on high-performing items.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A8573C-0673-48D7-8602-E22F4DCCC1B6}"/>
              </a:ext>
            </a:extLst>
          </p:cNvPr>
          <p:cNvSpPr txBox="1"/>
          <p:nvPr/>
        </p:nvSpPr>
        <p:spPr>
          <a:xfrm>
            <a:off x="3569971" y="2590221"/>
            <a:ext cx="2356337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Social media campaigns were the most effective, generating 40% of sales. Coupons and catalog inclusion also performed well, contributing 25% and 20% of sales, respectively. Posters had the lowest impact at 15%.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514714-56BB-4908-98CA-F8042A09E841}"/>
              </a:ext>
            </a:extLst>
          </p:cNvPr>
          <p:cNvSpPr txBox="1"/>
          <p:nvPr/>
        </p:nvSpPr>
        <p:spPr>
          <a:xfrm>
            <a:off x="6791765" y="2590221"/>
            <a:ext cx="1855679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By leveraging the most effective marketing channels and optimizing the product portfolio, we can unlock significant growth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539552" y="1556792"/>
            <a:ext cx="743903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398044" y="6337300"/>
            <a:ext cx="1288756" cy="25923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6271072"/>
            <a:ext cx="1415143" cy="2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984824-2245-4822-B08D-040F1517A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99567"/>
            <a:ext cx="9144000" cy="13488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5BC47D-616F-464C-A4D9-2AD2E7FE8321}"/>
              </a:ext>
            </a:extLst>
          </p:cNvPr>
          <p:cNvSpPr txBox="1"/>
          <p:nvPr/>
        </p:nvSpPr>
        <p:spPr>
          <a:xfrm>
            <a:off x="2461846" y="423315"/>
            <a:ext cx="524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accent1">
                    <a:lumMod val="50000"/>
                  </a:schemeClr>
                </a:solidFill>
              </a:rPr>
              <a:t>IDENTIFYING GROWTH OPPORTUNITIES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70F5BD-EED1-43F2-8BD9-7416DA969DDA}"/>
              </a:ext>
            </a:extLst>
          </p:cNvPr>
          <p:cNvSpPr txBox="1"/>
          <p:nvPr/>
        </p:nvSpPr>
        <p:spPr>
          <a:xfrm>
            <a:off x="539552" y="3034455"/>
            <a:ext cx="2020768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High-Growth Accounts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AD7D4-8CD9-40B3-84AE-0706C3637161}"/>
              </a:ext>
            </a:extLst>
          </p:cNvPr>
          <p:cNvSpPr txBox="1"/>
          <p:nvPr/>
        </p:nvSpPr>
        <p:spPr>
          <a:xfrm>
            <a:off x="6386732" y="2993382"/>
            <a:ext cx="2300068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Underperforming Accounts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6D6250-A800-4BA2-8065-547FC6F0B28D}"/>
              </a:ext>
            </a:extLst>
          </p:cNvPr>
          <p:cNvSpPr txBox="1"/>
          <p:nvPr/>
        </p:nvSpPr>
        <p:spPr>
          <a:xfrm>
            <a:off x="3719587" y="3034454"/>
            <a:ext cx="1330716" cy="307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Focus Areas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6DF05B-518A-4393-8DA4-C9C5EBF9A590}"/>
              </a:ext>
            </a:extLst>
          </p:cNvPr>
          <p:cNvSpPr txBox="1"/>
          <p:nvPr/>
        </p:nvSpPr>
        <p:spPr>
          <a:xfrm>
            <a:off x="457200" y="3556841"/>
            <a:ext cx="242873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Accounts sb7, sb9, and sb1 showed the highest year-over-year growth, ranging from 15% to 20%. Prioritize these accounts for deeper engagement and further expansion.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AE64B4-AFE3-44C3-99E5-0E8A9111863E}"/>
              </a:ext>
            </a:extLst>
          </p:cNvPr>
          <p:cNvSpPr txBox="1"/>
          <p:nvPr/>
        </p:nvSpPr>
        <p:spPr>
          <a:xfrm>
            <a:off x="3476674" y="3556841"/>
            <a:ext cx="242873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Accounts LMN and DEF underperformed, with a 5% and 8% decline, respectively. Investigate root causes and develop targeted strategies to improve their performance.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F56FD-CC65-494B-97D6-8F94C024F92D}"/>
              </a:ext>
            </a:extLst>
          </p:cNvPr>
          <p:cNvSpPr txBox="1"/>
          <p:nvPr/>
        </p:nvSpPr>
        <p:spPr>
          <a:xfrm>
            <a:off x="6270577" y="3556841"/>
            <a:ext cx="2677941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Concentrate sales efforts on expanding market share in high-growth industries, cross-selling complementary products, and improving customer retention through enhanced service and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9E2FA6-FACE-406C-B111-8D403B669314}"/>
              </a:ext>
            </a:extLst>
          </p:cNvPr>
          <p:cNvSpPr txBox="1"/>
          <p:nvPr/>
        </p:nvSpPr>
        <p:spPr>
          <a:xfrm>
            <a:off x="2620107" y="403874"/>
            <a:ext cx="4273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002060"/>
                </a:solidFill>
              </a:rPr>
              <a:t>STRATEGIC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984C0-4CE6-4124-A041-EECB7CB3043E}"/>
              </a:ext>
            </a:extLst>
          </p:cNvPr>
          <p:cNvSpPr txBox="1"/>
          <p:nvPr/>
        </p:nvSpPr>
        <p:spPr>
          <a:xfrm>
            <a:off x="4035669" y="1061598"/>
            <a:ext cx="2620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Optimize Product 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Portfolio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2D4FB-A429-4425-8AC5-1C77ED6251BD}"/>
              </a:ext>
            </a:extLst>
          </p:cNvPr>
          <p:cNvSpPr txBox="1"/>
          <p:nvPr/>
        </p:nvSpPr>
        <p:spPr>
          <a:xfrm>
            <a:off x="4035669" y="1403334"/>
            <a:ext cx="4747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Prioritize high-performing products, streamline the product mix, and explore opportunities for product innovation and line extensions.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CF7DB-08AB-416B-A0D4-737C221553E5}"/>
              </a:ext>
            </a:extLst>
          </p:cNvPr>
          <p:cNvSpPr txBox="1"/>
          <p:nvPr/>
        </p:nvSpPr>
        <p:spPr>
          <a:xfrm>
            <a:off x="4035669" y="2280508"/>
            <a:ext cx="4747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Enhance Marketing Effectiveness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EB116B-7F00-4F3B-9511-EED50FA10040}"/>
              </a:ext>
            </a:extLst>
          </p:cNvPr>
          <p:cNvSpPr txBox="1"/>
          <p:nvPr/>
        </p:nvSpPr>
        <p:spPr>
          <a:xfrm>
            <a:off x="4035669" y="2651461"/>
            <a:ext cx="4747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Allocate resources to the most impactful marketing channels, such as social media and targeted promotional campaigns, to drive increased visibility and engagement.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04D742-93BB-44E5-8FCF-343335F44925}"/>
              </a:ext>
            </a:extLst>
          </p:cNvPr>
          <p:cNvSpPr txBox="1"/>
          <p:nvPr/>
        </p:nvSpPr>
        <p:spPr>
          <a:xfrm>
            <a:off x="4035669" y="3514855"/>
            <a:ext cx="4747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Deepen Customer Relationships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27B08-AAD3-471B-8738-8D63B38B62C7}"/>
              </a:ext>
            </a:extLst>
          </p:cNvPr>
          <p:cNvSpPr txBox="1"/>
          <p:nvPr/>
        </p:nvSpPr>
        <p:spPr>
          <a:xfrm>
            <a:off x="4035669" y="3848569"/>
            <a:ext cx="4747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Invest in personalized account management, value-added services, and customer success initiatives to strengthen loyalty and unlock cross-sell and upsell opportunities.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3C7AE-3F59-4E51-8932-645F81848F9E}"/>
              </a:ext>
            </a:extLst>
          </p:cNvPr>
          <p:cNvSpPr txBox="1"/>
          <p:nvPr/>
        </p:nvSpPr>
        <p:spPr>
          <a:xfrm>
            <a:off x="4035669" y="4724271"/>
            <a:ext cx="47478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Foster a Sales-Driven Culture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0A5EAD-3ECE-4A72-B2D7-FA138A463525}"/>
              </a:ext>
            </a:extLst>
          </p:cNvPr>
          <p:cNvSpPr txBox="1"/>
          <p:nvPr/>
        </p:nvSpPr>
        <p:spPr>
          <a:xfrm>
            <a:off x="4035669" y="5032048"/>
            <a:ext cx="474784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Empower sales teams with comprehensive training, tools, and incentives to enhance their skills, motivation, and overall effectiveness.</a:t>
            </a:r>
          </a:p>
          <a:p>
            <a:endParaRPr lang="en-IN" dirty="0"/>
          </a:p>
        </p:txBody>
      </p:sp>
      <p:pic>
        <p:nvPicPr>
          <p:cNvPr id="21" name="Image 1" descr="preencoded.png">
            <a:extLst>
              <a:ext uri="{FF2B5EF4-FFF2-40B4-BE49-F238E27FC236}">
                <a16:creationId xmlns:a16="http://schemas.microsoft.com/office/drawing/2014/main" id="{1E7128CD-B3CD-4C4B-B4DE-34FAB1A933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980886"/>
            <a:ext cx="4035669" cy="506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33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PMorgan Chase &amp; Co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B99D30"/>
      </a:hlink>
      <a:folHlink>
        <a:srgbClr val="007C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433</Words>
  <Application>Microsoft Office PowerPoint</Application>
  <PresentationFormat>On-screen Show (4:3)</PresentationFormat>
  <Paragraphs>38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Fira sans</vt:lpstr>
      <vt:lpstr>Office Theme</vt:lpstr>
      <vt:lpstr>PowerPoint Presentation</vt:lpstr>
      <vt:lpstr>Sales Performance Overview </vt:lpstr>
      <vt:lpstr> Product and Marketing Channel Performance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Li, Andrew X</dc:creator>
  <cp:lastModifiedBy>Jayant Shrimali</cp:lastModifiedBy>
  <cp:revision>7</cp:revision>
  <dcterms:created xsi:type="dcterms:W3CDTF">2020-03-26T22:50:15Z</dcterms:created>
  <dcterms:modified xsi:type="dcterms:W3CDTF">2024-07-01T04:56:24Z</dcterms:modified>
</cp:coreProperties>
</file>